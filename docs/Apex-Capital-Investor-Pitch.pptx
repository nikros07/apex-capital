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Positionsgröße</c:v>
                </c:pt>
              </c:strCache>
            </c:strRef>
          </c:tx>
          <c:spPr>
            <a:solidFill>
              <a:srgbClr val="00D0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CE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0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446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Ruhig (&lt;25)</c:v>
                  </c:pt>
                  <c:pt idx="1">
                    <c:v>Erhöht (&gt;25)</c:v>
                  </c:pt>
                  <c:pt idx="2">
                    <c:v>Angst (&gt;30)</c:v>
                  </c:pt>
                  <c:pt idx="3">
                    <c:v>Panik (&gt;40)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75</c:v>
                </c:pt>
                <c:pt idx="2">
                  <c:v>50</c:v>
                </c:pt>
                <c:pt idx="3">
                  <c:v>25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E8ECE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B95A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91F26"/>
        </a:solidFill>
        <a:ln>
          <a:noFill/>
        </a:ln>
        <a:effectLst/>
      </c:spPr>
    </c:plotArea>
    <c:plotVisOnly val="1"/>
    <c:dispBlanksAs val="span"/>
  </c:chart>
  <c:spPr>
    <a:solidFill>
      <a:srgbClr val="191F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Einstieg: Apex Capital ist kein Trading-Bot mit einer Formel, sondern ein simuliertes Investmenthaus. Jede Entscheidung entsteht aus einer Debatte zwischen spezialisierten Agenten und wird vollständig protokolliert. Wichtig sofort klarstellen: Paper Trading, echtes Marktdaten-Feed, kein echtes Kapital.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Kern: nicht Geschwindigkeit ist das Verkaufsargument, sondern Nachvollziehbarkeit plus Disziplin.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Elena läuft immer zuerst — ihr Makro-Regime geht als Kontext in jede weitere Analyse 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 1-4 sind Informationsbeschaffung, 5-7 sind Kontrolle, 8 ist Vollzug. Rund 8 LLM-Aufrufe pro Titel.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Viktor kürzt zusätzlich bei Monatsverlust über 5 %, nach drei Verlusten in Folge, bei Meme-Risiko und vor Quartalszahlen.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 für Rückfragen: Dantes Einwand ist heute nur beratend, er kürzt die Position nicht automatisch. Das steht auf der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Beleg aus der Praxis: der komplette Katalog kostenloser Modelle bei OpenRouter war einmal von heute auf morgen abgeschaltet. Die Kette hat den Betrieb aufrechterhalten.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ist bewusst drin. Wer sie weglässt, verliert die Glaubwürdigkeit spätestens in der Due Diligence.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Abschluss: keine Kapitalanfrage für echten Handel, sondern die Bitte um Zeit und um die Zustimmung zur Messmethodik.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120640" cy="5120640"/>
          </a:xfrm>
          <a:prstGeom prst="ellipse">
            <a:avLst/>
          </a:prstGeom>
          <a:solidFill>
            <a:srgbClr val="00D084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108960"/>
            <a:ext cx="3108960" cy="3108960"/>
          </a:xfrm>
          <a:prstGeom prst="ellipse">
            <a:avLst/>
          </a:prstGeom>
          <a:solidFill>
            <a:srgbClr val="4D9F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170432"/>
            <a:ext cx="128016" cy="128016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572768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Hedgefonds,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sich selbst verwaltet.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66928" y="3419856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Zehn KI-Agenten mit eigenen Rollen und Charakteren recherchieren Aktien, streiten über jede These und führen Trades vollautomatisch aus — mit echten Marktdaten, aber ohne echtes Geld. 24 Stunden am Tag, ohne einen einzigen Klick.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473659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66928" y="534009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KI-AGENTEN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473659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4D9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91840" y="534009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 IM UNIVERSUM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16752" y="473659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06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016752" y="534009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AUTONOMER BETRIEB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41664" y="4736592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741664" y="534009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LLM-KOSTEN PRO MONAT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6400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Investoren-Präsentation  ·  Stand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überhaupt ein Fonds aus Agenten?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45336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545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517904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kostet, bevor es verdient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1883664"/>
            <a:ext cx="5888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echtes Analystenteam — Makro, Charttechnik, Fundamentaldaten, Risiko — kostet sechsstellig pro Jahr, bevor die erste Order läuft.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935224"/>
            <a:ext cx="402336" cy="402336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935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907792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Klassische KI-Modelle sind eine Blackbox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0432" y="3273552"/>
            <a:ext cx="5888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Modell sagt „kaufen“ und niemand weiß, warum. Ohne nachvollziehbare Begründung ist eine Entscheidung nicht prüfbar — und damit nicht investierbar.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325112"/>
            <a:ext cx="402336" cy="402336"/>
          </a:xfrm>
          <a:prstGeom prst="ellipse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4325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4297680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Menschen brechen ihre eigenen Regeln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0432" y="4663440"/>
            <a:ext cx="5888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 verschieben, Verlierer aussitzen, Gewinner zu früh verkaufen. Diszipliniert ist eine Strategie nur, wenn niemand sie überstimmen kann.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16368" y="1444752"/>
            <a:ext cx="4105656" cy="4023360"/>
          </a:xfrm>
          <a:prstGeom prst="roundRect">
            <a:avLst>
              <a:gd name="adj" fmla="val 2045"/>
            </a:avLst>
          </a:prstGeom>
          <a:solidFill>
            <a:srgbClr val="1F272F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00416" y="17373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ANTWORT VON APEX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00416" y="2066544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kompletter Investment-</a:t>
            </a:r>
            <a:endParaRPr lang="en-US" sz="19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prozess als Software.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900416" y="3200400"/>
            <a:ext cx="3337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Zehn Agenten übernehmen je eine Rolle des Investmentteams. Sie liefern jeder ein eigenes Urteil, das Komitee streitet darüber, der Risikomanager hat ein Vetorecht — und die Regeln lassen sich nicht überreden.</a:t>
            </a:r>
            <a:endParaRPr lang="en-US" sz="1250" dirty="0"/>
          </a:p>
          <a:p>
            <a:pPr algn="l" indent="0" marL="0">
              <a:lnSpc>
                <a:spcPts val="1750"/>
              </a:lnSpc>
              <a:buNone/>
            </a:pPr>
            <a:endParaRPr lang="en-US" sz="12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Schritt wird gespeichert und bleibt nachlesbar.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heute läuft — nicht was geplant ist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System ist gebaut, deployed und handelt eigenständig. Was folgt, beschreibt den tatsächlichen Betriebszustand.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3429000" cy="1426464"/>
          </a:xfrm>
          <a:prstGeom prst="roundRect">
            <a:avLst>
              <a:gd name="adj" fmla="val 5769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2414016"/>
            <a:ext cx="2807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10.000 €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77824" y="305409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STARTKAPITAL (SIMULIERT)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9976" y="2231136"/>
            <a:ext cx="3429000" cy="1426464"/>
          </a:xfrm>
          <a:prstGeom prst="roundRect">
            <a:avLst>
              <a:gd name="adj" fmla="val 5769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90872" y="2414016"/>
            <a:ext cx="2807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9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90872" y="305409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POSITIONEN MAXIMAL PARALLEL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93024" y="2231136"/>
            <a:ext cx="3429000" cy="1426464"/>
          </a:xfrm>
          <a:prstGeom prst="roundRect">
            <a:avLst>
              <a:gd name="adj" fmla="val 5769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2414016"/>
            <a:ext cx="2807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03920" y="3054096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KAPITALRISIKO JE POSITION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4023360"/>
            <a:ext cx="3429000" cy="1426464"/>
          </a:xfrm>
          <a:prstGeom prst="roundRect">
            <a:avLst>
              <a:gd name="adj" fmla="val 5769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4206240"/>
            <a:ext cx="2807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6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77824" y="484632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VOLL-SCANS PRO HANDELSTAG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9976" y="4023360"/>
            <a:ext cx="3429000" cy="1426464"/>
          </a:xfrm>
          <a:prstGeom prst="roundRect">
            <a:avLst>
              <a:gd name="adj" fmla="val 5769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90872" y="4206240"/>
            <a:ext cx="2807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90872" y="484632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TAKT DER ÜBERWACHUNG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93024" y="4023360"/>
            <a:ext cx="3429000" cy="1426464"/>
          </a:xfrm>
          <a:prstGeom prst="roundRect">
            <a:avLst>
              <a:gd name="adj" fmla="val 5769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03920" y="4206240"/>
            <a:ext cx="2807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9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~5 €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503920" y="4846320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SERVERKOSTEN PRO MONAT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588873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Zahlen sind fest im Code verankerte Regeln, keine Zielwerte.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Zehn Agenten, zehn Zuständigkeiten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55648"/>
            <a:ext cx="420624" cy="420624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494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MAKROÖKONOMIN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" y="2779776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Setzt das Marktregime für alle anderen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1517904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90672" y="1755648"/>
            <a:ext cx="420624" cy="420624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90672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90672" y="22494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90672" y="251460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CHARTTECHNIKER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90672" y="2779776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„Der Chart lügt nie“ — reine Preisdaten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02352" y="1517904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58384" y="1755648"/>
            <a:ext cx="420624" cy="420624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58384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58384" y="22494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Sophie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58384" y="251460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FUNDAMENTALANALYSE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58384" y="2779776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Buffett-Schule, Cashflow über alles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70064" y="1517904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26096" y="1755648"/>
            <a:ext cx="420624" cy="420624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26096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26096" y="22494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6096" y="251460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626096" y="2779776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Sucht Katalysatoren und Nachrichtenlage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637776" y="1517904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893808" y="1755648"/>
            <a:ext cx="420624" cy="420624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893808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93808" y="224942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Jordan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893808" y="251460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SENTIMENT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893808" y="2779776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Liest Reddit und StockTwits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3675888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" y="3913632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2960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2960" y="4407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Viktor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2960" y="467258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RISIKOMANAGER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22960" y="49377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Sagt erst nein, dann vielleicht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4640" y="3675888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090672" y="3913632"/>
            <a:ext cx="420624" cy="420624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090672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3090672" y="4407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090672" y="467258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BULLEN-ANWALT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090672" y="49377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Findet immer ein Kaufargument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102352" y="3675888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358384" y="3913632"/>
            <a:ext cx="420624" cy="420624"/>
          </a:xfrm>
          <a:prstGeom prst="ellipse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358384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5358384" y="4407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358384" y="467258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BÄREN-ANWÄLTIN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358384" y="49377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Erinnert sich an 2008, 2001, 1987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370064" y="3675888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626096" y="3913632"/>
            <a:ext cx="420624" cy="420624"/>
          </a:xfrm>
          <a:prstGeom prst="ellipse">
            <a:avLst/>
          </a:prstGeom>
          <a:solidFill>
            <a:srgbClr val="B06AFF"/>
          </a:solidFill>
          <a:ln w="12700">
            <a:solidFill>
              <a:srgbClr val="B06A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626096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7626096" y="4407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Marcus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626096" y="467258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B0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— LETZTES WORT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626096" y="49377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Fällt das Urteil: kaufen, warten, ablehnen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637776" y="3675888"/>
            <a:ext cx="2084832" cy="1920240"/>
          </a:xfrm>
          <a:prstGeom prst="roundRect">
            <a:avLst>
              <a:gd name="adj" fmla="val 428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893808" y="3913632"/>
            <a:ext cx="420624" cy="420624"/>
          </a:xfrm>
          <a:prstGeom prst="ellipse">
            <a:avLst/>
          </a:prstGeom>
          <a:solidFill>
            <a:srgbClr val="B06AFF"/>
          </a:solidFill>
          <a:ln w="12700">
            <a:solidFill>
              <a:srgbClr val="B06A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9893808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9893808" y="44074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Dante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893808" y="467258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B0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ADVOCATUS DIABOLI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893808" y="493776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Sucht den Fehler in der fertigen These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66928" y="585216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Agent hat einen eigenen Charakter — das erzeugt unterschiedliche Blickwinkel statt zehnmal derselben Antwort.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KERNPROZESS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aus einem Kürzel eine Position wird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Wertpapier durchläuft dieselben acht Stufen — egal ob der Scanner es findet oder ein Mensch es anstößt.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2551176" cy="1481328"/>
          </a:xfrm>
          <a:prstGeom prst="roundRect">
            <a:avLst>
              <a:gd name="adj" fmla="val 555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2139696"/>
            <a:ext cx="347472" cy="347472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7008" y="2139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Makro-Kontext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6384" y="2615184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Elena bestimmt das Marktregime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9252" y="2601468"/>
            <a:ext cx="201168" cy="155448"/>
          </a:xfrm>
          <a:prstGeom prst="right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1568" y="1938528"/>
            <a:ext cx="2551176" cy="1481328"/>
          </a:xfrm>
          <a:prstGeom prst="roundRect">
            <a:avLst>
              <a:gd name="adj" fmla="val 555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21024" y="2139696"/>
            <a:ext cx="347472" cy="347472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41648" y="2139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Marktdaten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21024" y="2615184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Monate Kurse, 12 Indikatoren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93892" y="2601468"/>
            <a:ext cx="201168" cy="155448"/>
          </a:xfrm>
          <a:prstGeom prst="right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938528"/>
            <a:ext cx="2551176" cy="1481328"/>
          </a:xfrm>
          <a:prstGeom prst="roundRect">
            <a:avLst>
              <a:gd name="adj" fmla="val 555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55664" y="2139696"/>
            <a:ext cx="347472" cy="347472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55664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76288" y="2139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Parallel-Analyse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55664" y="2615184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Kai, Sophie, Alex gleichzeitig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28532" y="2601468"/>
            <a:ext cx="201168" cy="155448"/>
          </a:xfrm>
          <a:prstGeom prst="right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70848" y="1938528"/>
            <a:ext cx="2551176" cy="1481328"/>
          </a:xfrm>
          <a:prstGeom prst="roundRect">
            <a:avLst>
              <a:gd name="adj" fmla="val 555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90304" y="2139696"/>
            <a:ext cx="347472" cy="347472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290304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10928" y="2139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Sentiment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290304" y="2615184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liest die Masse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3840480"/>
            <a:ext cx="2551176" cy="1481328"/>
          </a:xfrm>
          <a:prstGeom prst="roundRect">
            <a:avLst>
              <a:gd name="adj" fmla="val 555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6384" y="4041648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6384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07008" y="40416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Risikoprüfung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86384" y="4517136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Viktor rechnet Größe und Stops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159252" y="4503420"/>
            <a:ext cx="201168" cy="155448"/>
          </a:xfrm>
          <a:prstGeom prst="right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01568" y="3840480"/>
            <a:ext cx="2551176" cy="1481328"/>
          </a:xfrm>
          <a:prstGeom prst="roundRect">
            <a:avLst>
              <a:gd name="adj" fmla="val 555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21024" y="4041648"/>
            <a:ext cx="347472" cy="347472"/>
          </a:xfrm>
          <a:prstGeom prst="ellipse">
            <a:avLst/>
          </a:prstGeom>
          <a:solidFill>
            <a:srgbClr val="B06AFF"/>
          </a:solidFill>
          <a:ln w="12700">
            <a:solidFill>
              <a:srgbClr val="B06A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621024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041648" y="40416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Komitee-Debatte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621024" y="4517136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gegen Nina, Marcus urteilt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93892" y="4503420"/>
            <a:ext cx="201168" cy="155448"/>
          </a:xfrm>
          <a:prstGeom prst="right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3840480"/>
            <a:ext cx="2551176" cy="1481328"/>
          </a:xfrm>
          <a:prstGeom prst="roundRect">
            <a:avLst>
              <a:gd name="adj" fmla="val 555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55664" y="4041648"/>
            <a:ext cx="347472" cy="347472"/>
          </a:xfrm>
          <a:prstGeom prst="ellipse">
            <a:avLst/>
          </a:prstGeom>
          <a:solidFill>
            <a:srgbClr val="B06AFF"/>
          </a:solidFill>
          <a:ln w="12700">
            <a:solidFill>
              <a:srgbClr val="B06A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55664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76288" y="40416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Gegenprüfung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455664" y="4517136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Dante sucht den fatalen Fehler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828532" y="4503420"/>
            <a:ext cx="201168" cy="155448"/>
          </a:xfrm>
          <a:prstGeom prst="right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70848" y="3840480"/>
            <a:ext cx="2551176" cy="1481328"/>
          </a:xfrm>
          <a:prstGeom prst="roundRect">
            <a:avLst>
              <a:gd name="adj" fmla="val 5556"/>
            </a:avLst>
          </a:prstGeom>
          <a:solidFill>
            <a:srgbClr val="1F272F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290304" y="4041648"/>
            <a:ext cx="347472" cy="347472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290304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710928" y="40416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Ausführung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9290304" y="4517136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Kauf ohne menschliche Freigabe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66928" y="5504688"/>
            <a:ext cx="11055096" cy="658368"/>
          </a:xfrm>
          <a:prstGeom prst="roundRect">
            <a:avLst>
              <a:gd name="adj" fmla="val 12500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77824" y="5504688"/>
            <a:ext cx="10433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Verzweigung:  </a:t>
            </a:r>
            <a:pPr indent="0" marL="0">
              <a:buNone/>
            </a:pPr>
            <a:r>
              <a:rPr lang="en-US" sz="12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ein </a:t>
            </a:r>
            <a:pPr indent="0" marL="0">
              <a:buNone/>
            </a:pPr>
            <a:r>
              <a:rPr lang="en-US" sz="125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pPr indent="0" marL="0">
              <a:buNone/>
            </a:pPr>
            <a:r>
              <a:rPr lang="en-US" sz="12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-Urteil erreicht Stufe 7 und 8. Bei </a:t>
            </a:r>
            <a:pPr indent="0" marL="0">
              <a:buNone/>
            </a:pPr>
            <a:r>
              <a:rPr lang="en-US" sz="125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2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oder </a:t>
            </a:r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pPr indent="0" marL="0">
              <a:buNone/>
            </a:pPr>
            <a:r>
              <a:rPr lang="en-US" sz="12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endet der Vorgang ohne Trade — der Vorgang wird trotzdem vollständig archiviert.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 IM DETAIL  ·  STUFEN 1 BIS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Erst der Markt, dann die Zahlen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3456432" cy="4023360"/>
          </a:xfrm>
          <a:prstGeom prst="roundRect">
            <a:avLst>
              <a:gd name="adj" fmla="val 2381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773936"/>
            <a:ext cx="384048" cy="384048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28600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Makro-Kontext (Elena)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59536" y="2889504"/>
            <a:ext cx="28712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Fünf parallele Websuchen zu Zinspolitik, Volatilität, Sektorrotation und Rezessionsrisiko.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Marktregime (Risk-On / Risk-Off / Übergang), Fed-Haltung, Sektorausblick, zwei Hauptrisiken.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Dieses Regime wird an alle folgenden Agenten weitergereicht — niemand analysiert im luftleeren Raum.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0832" y="1517904"/>
            <a:ext cx="3456432" cy="4023360"/>
          </a:xfrm>
          <a:prstGeom prst="roundRect">
            <a:avLst>
              <a:gd name="adj" fmla="val 2381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773936"/>
            <a:ext cx="384048" cy="384048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Marktdaten &amp; Indikatoren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63440" y="2889504"/>
            <a:ext cx="28712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Sechs Monate Tageskurse werden geladen und daraus zwölf Kennzahlen berechnet: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· EMA 20/50 · Golden/Death Cross · MACD · ATR · Bollinger-Bänder · Volumenverhältnis · Unterstützung und Widerstand · Trendrichtung.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Reine Mathematik, kein Sprachmodell — die Zahlen sind reproduzierbar.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74736" y="1517904"/>
            <a:ext cx="3456432" cy="4023360"/>
          </a:xfrm>
          <a:prstGeom prst="roundRect">
            <a:avLst>
              <a:gd name="adj" fmla="val 2381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7344" y="1773936"/>
            <a:ext cx="384048" cy="384048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67344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67344" y="228600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Analysen gleichzeitig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67344" y="2889504"/>
            <a:ext cx="28712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 (Chart), Sophie (Fundamentaldaten) und Alex (Research) laufen zeitgleich, nicht nacheinander.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liefert ein Signal von starkem Kauf bis starkem Verkauf, eine Überzeugung von 0 bis 10 und eine schriftliche These.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Agent sieht das Urteil der anderen.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57607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Zwischenstand nach Stufe 3: fünf voneinander unabhängige Einschätzungen desselben Titels.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 IM DETAIL  ·  STUFEN 4 UND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Masse lesen — und das Risiko rechnen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5120640" cy="4041648"/>
          </a:xfrm>
          <a:prstGeom prst="roundRect">
            <a:avLst>
              <a:gd name="adj" fmla="val 203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1755648"/>
            <a:ext cx="384048" cy="384048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22677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Sentiment (Jordan)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77824" y="2633472"/>
            <a:ext cx="4517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zieht Reddit-Beiträge und StockTwits-Nachrichten und verdichtet sie zu einer Stimmungslage.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" y="3520440"/>
            <a:ext cx="100584" cy="100584"/>
          </a:xfrm>
          <a:prstGeom prst="ellipse">
            <a:avLst/>
          </a:prstGeom>
          <a:solidFill>
            <a:srgbClr val="4D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4381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Stimmungswert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15568" y="36941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bullisch bis sehr bärisch, plus Überzeugungsgrad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" y="4251960"/>
            <a:ext cx="100584" cy="100584"/>
          </a:xfrm>
          <a:prstGeom prst="ellipse">
            <a:avLst/>
          </a:prstGeom>
          <a:solidFill>
            <a:srgbClr val="4D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416966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Meme-Risiko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15568" y="442569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10 Erwähnungen in Wallstreetbets → kleinere Position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" y="4983480"/>
            <a:ext cx="100584" cy="100584"/>
          </a:xfrm>
          <a:prstGeom prst="ellipse">
            <a:avLst/>
          </a:prstGeom>
          <a:solidFill>
            <a:srgbClr val="4D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9011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Contrarian-Flag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15568" y="515721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 und Chartbild widersprechen sich → Vorsicht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53328" y="1499616"/>
            <a:ext cx="5568696" cy="4041648"/>
          </a:xfrm>
          <a:prstGeom prst="roundRect">
            <a:avLst>
              <a:gd name="adj" fmla="val 2036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64224" y="1755648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64224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64224" y="2267712"/>
            <a:ext cx="4946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Risikoprüfung (Viktor)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364224" y="2633472"/>
            <a:ext cx="4946904" cy="566928"/>
          </a:xfrm>
          <a:prstGeom prst="roundRect">
            <a:avLst>
              <a:gd name="adj" fmla="val 9677"/>
            </a:avLst>
          </a:prstGeom>
          <a:solidFill>
            <a:srgbClr val="0A0D10"/>
          </a:solidFill>
          <a:ln w="9525">
            <a:solidFill>
              <a:srgbClr val="2C35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2633472"/>
            <a:ext cx="4946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Positionsgröße  =  (Depotwert × 1 %) ÷ (1,5 × ATR)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64224" y="3310128"/>
            <a:ext cx="4946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der Kurs bestimmt die Stückzahl, sondern die Schwankungsbreite (ATR).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64224" y="3785616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MULTIPLIKATOR NACH VOLATILITÄTSREGIME (VIX)</a:t>
            </a:r>
            <a:endParaRPr lang="en-US" sz="9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6236208" y="4059936"/>
          <a:ext cx="5202936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 IM DETAIL  ·  STUFEN 6 UND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Entscheidung fällt im Streitgespräch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499616"/>
            <a:ext cx="3456432" cy="2121408"/>
          </a:xfrm>
          <a:prstGeom prst="roundRect">
            <a:avLst>
              <a:gd name="adj" fmla="val 3879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737360"/>
            <a:ext cx="384048" cy="38404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737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— Bullenfall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2286000"/>
            <a:ext cx="2871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Baut das stärkste Kaufargument, nennt ein Kursziel nach oben und drei Belege aus den Berichten.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91940" y="2487168"/>
            <a:ext cx="201168" cy="155448"/>
          </a:xfrm>
          <a:prstGeom prst="right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1499616"/>
            <a:ext cx="3456432" cy="2121408"/>
          </a:xfrm>
          <a:prstGeom prst="roundRect">
            <a:avLst>
              <a:gd name="adj" fmla="val 3879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75504" y="1737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Nina — Bärenfall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286000"/>
            <a:ext cx="2871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Bekommt Leos Argument zu lesen und greift es direkt an. Nennt das Abwärtsziel und den schlechtesten Fall.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95844" y="2487168"/>
            <a:ext cx="201168" cy="155448"/>
          </a:xfrm>
          <a:prstGeom prst="right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4736" y="1499616"/>
            <a:ext cx="3456432" cy="2121408"/>
          </a:xfrm>
          <a:prstGeom prst="roundRect">
            <a:avLst>
              <a:gd name="adj" fmla="val 3879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67344" y="1737360"/>
            <a:ext cx="384048" cy="384048"/>
          </a:xfrm>
          <a:prstGeom prst="ellipse">
            <a:avLst/>
          </a:prstGeom>
          <a:solidFill>
            <a:srgbClr val="B06AFF"/>
          </a:solidFill>
          <a:ln w="12700">
            <a:solidFill>
              <a:srgbClr val="B06A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6734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79408" y="1737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— Urteil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67344" y="2286000"/>
            <a:ext cx="2871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Sieht beide Seiten plus Viktors Zahlen und entscheidet: INVEST, WAIT oder PASS — mit schriftlicher Begründung.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380390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HARTE REGELN, DIE ÜBER DEM URTEIL STEHEN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3456432" cy="1700784"/>
          </a:xfrm>
          <a:prstGeom prst="roundRect">
            <a:avLst>
              <a:gd name="adj" fmla="val 4839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9536" y="4416552"/>
            <a:ext cx="118872" cy="118872"/>
          </a:xfrm>
          <a:prstGeom prst="ellipse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334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bei kritischem Risiko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9536" y="4663440"/>
            <a:ext cx="2871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Stuft Viktor das Risiko als CRITICAL ein, wird das Urteil zwingend auf PASS gesetzt — unabhängig davon, wie überzeugt das Komitee war.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70832" y="4114800"/>
            <a:ext cx="3456432" cy="1700784"/>
          </a:xfrm>
          <a:prstGeom prst="roundRect">
            <a:avLst>
              <a:gd name="adj" fmla="val 4839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4416552"/>
            <a:ext cx="118872" cy="1188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4334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Abschlag bei Uneinigkeit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663440" y="4663440"/>
            <a:ext cx="2871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Liegen Leo und Nina in ihrer Überzeugung mehr als drei Punkte auseinander, wird die Positionsgröße auf 85 % gekürzt.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74736" y="4114800"/>
            <a:ext cx="3456432" cy="1700784"/>
          </a:xfrm>
          <a:prstGeom prst="roundRect">
            <a:avLst>
              <a:gd name="adj" fmla="val 4839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67344" y="4416552"/>
            <a:ext cx="118872" cy="118872"/>
          </a:xfrm>
          <a:prstGeom prst="ellipse">
            <a:avLst/>
          </a:prstGeom>
          <a:solidFill>
            <a:srgbClr val="B06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43342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Gegenprüfung (Stufe 7)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67344" y="4663440"/>
            <a:ext cx="2871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Dante bekommt die fertige Entscheidung und sucht den einen übersehenen Fehler — mit Szenario, Wahrscheinlichkeit und Gegenmaßnahme.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Sechs Regeln, die niemand überstimmen kann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36192"/>
            <a:ext cx="3456432" cy="1847088"/>
          </a:xfrm>
          <a:prstGeom prst="roundRect">
            <a:avLst>
              <a:gd name="adj" fmla="val 4455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810512"/>
            <a:ext cx="310896" cy="310896"/>
          </a:xfrm>
          <a:prstGeom prst="ellipse">
            <a:avLst/>
          </a:prstGeom>
          <a:solidFill>
            <a:srgbClr val="00D084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1901952"/>
            <a:ext cx="128016" cy="128016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7922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Einsatz je Position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2286000"/>
            <a:ext cx="28712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Höchstens 1 % des Depotwerts darf verloren gehen, wenn der Stop greift. Die Stückzahl ergibt sich daraus — nicht umgekehrt.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0832" y="1536192"/>
            <a:ext cx="3456432" cy="1847088"/>
          </a:xfrm>
          <a:prstGeom prst="roundRect">
            <a:avLst>
              <a:gd name="adj" fmla="val 4455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810512"/>
            <a:ext cx="310896" cy="310896"/>
          </a:xfrm>
          <a:prstGeom prst="ellipse">
            <a:avLst/>
          </a:prstGeom>
          <a:solidFill>
            <a:srgbClr val="F5A623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90195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4064" y="17922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Stop-Loss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28712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 minus 1,5 × ATR. Der Stop zieht mit steigendem Kurs nach, senkt sich aber niemals wieder.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74736" y="1536192"/>
            <a:ext cx="3456432" cy="1847088"/>
          </a:xfrm>
          <a:prstGeom prst="roundRect">
            <a:avLst>
              <a:gd name="adj" fmla="val 4455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7344" y="1810512"/>
            <a:ext cx="310896" cy="310896"/>
          </a:xfrm>
          <a:prstGeom prst="ellipse">
            <a:avLst/>
          </a:prstGeom>
          <a:solidFill>
            <a:srgbClr val="4D9FFF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58784" y="1901952"/>
            <a:ext cx="128016" cy="128016"/>
          </a:xfrm>
          <a:prstGeom prst="ellipse">
            <a:avLst/>
          </a:prstGeom>
          <a:solidFill>
            <a:srgbClr val="4D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87968" y="17922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Gewinnmitnahme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67344" y="2286000"/>
            <a:ext cx="28712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Einstieg plus 2,5 × ATR werden 60 Prozent verkauft. Der Rest läuft mit Stop auf Einstandsniveau — ab da risikofrei.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694176"/>
            <a:ext cx="3456432" cy="1847088"/>
          </a:xfrm>
          <a:prstGeom prst="roundRect">
            <a:avLst>
              <a:gd name="adj" fmla="val 4455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9536" y="3968496"/>
            <a:ext cx="310896" cy="310896"/>
          </a:xfrm>
          <a:prstGeom prst="ellipse">
            <a:avLst/>
          </a:prstGeom>
          <a:solidFill>
            <a:srgbClr val="B06AFF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0976" y="4059936"/>
            <a:ext cx="128016" cy="128016"/>
          </a:xfrm>
          <a:prstGeom prst="ellipse">
            <a:avLst/>
          </a:prstGeom>
          <a:solidFill>
            <a:srgbClr val="B06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39502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Depotgrenzen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9536" y="4443984"/>
            <a:ext cx="28712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15 Positionen gleichzeitig, mindestens 7 Prozent Barreserve, jeder Titel nur einmal.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70832" y="3694176"/>
            <a:ext cx="3456432" cy="1847088"/>
          </a:xfrm>
          <a:prstGeom prst="roundRect">
            <a:avLst>
              <a:gd name="adj" fmla="val 4455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968496"/>
            <a:ext cx="310896" cy="310896"/>
          </a:xfrm>
          <a:prstGeom prst="ellipse">
            <a:avLst/>
          </a:prstGeom>
          <a:solidFill>
            <a:srgbClr val="F5A623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4059936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84064" y="39502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Verlustbremse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63440" y="4443984"/>
            <a:ext cx="28712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5 Prozent Monatsverlust oder drei Verluste in Folge halbieren jede neue Position automatisch.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74736" y="3694176"/>
            <a:ext cx="3456432" cy="1847088"/>
          </a:xfrm>
          <a:prstGeom prst="roundRect">
            <a:avLst>
              <a:gd name="adj" fmla="val 4455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67344" y="3968496"/>
            <a:ext cx="310896" cy="310896"/>
          </a:xfrm>
          <a:prstGeom prst="ellipse">
            <a:avLst/>
          </a:prstGeom>
          <a:solidFill>
            <a:srgbClr val="FF4466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58784" y="4059936"/>
            <a:ext cx="128016" cy="128016"/>
          </a:xfrm>
          <a:prstGeom prst="ellipse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87968" y="39502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Totes Kapital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67344" y="4443984"/>
            <a:ext cx="28712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nach 48 Stunden weniger als 1,5 Prozent im Plus liegt, wird verkauft — das Kapital arbeitet woanders weiter.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6928" y="58155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Werte stehen im Quellcode, nicht in einem Prompt — ein Sprachmodell kann sie nicht verhandeln.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POSITIONSFÜHRUNG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nach dem Kauf passiert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Minute zwischen 08:00 und 23:00 wird jede offene Position neu bewertet. Fünf Ereignisse können sie beenden.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" y="2313432"/>
            <a:ext cx="10689336" cy="22860"/>
          </a:xfrm>
          <a:prstGeom prst="rect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85391" y="2221992"/>
            <a:ext cx="219456" cy="219456"/>
          </a:xfrm>
          <a:prstGeom prst="ellipse">
            <a:avLst/>
          </a:prstGeom>
          <a:solidFill>
            <a:srgbClr val="00D084"/>
          </a:solidFill>
          <a:ln w="25400">
            <a:solidFill>
              <a:srgbClr val="0D1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542032"/>
            <a:ext cx="2672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2834640"/>
            <a:ext cx="2398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und Ziel werden beim Einstieg festgeschrieben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57725" y="2221992"/>
            <a:ext cx="219456" cy="219456"/>
          </a:xfrm>
          <a:prstGeom prst="ellipse">
            <a:avLst/>
          </a:prstGeom>
          <a:solidFill>
            <a:srgbClr val="4D9FFF"/>
          </a:solidFill>
          <a:ln w="25400">
            <a:solidFill>
              <a:srgbClr val="0D10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2142" y="2542032"/>
            <a:ext cx="2672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Überwachung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59302" y="2834640"/>
            <a:ext cx="2398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Kurs, Gewinn und nachziehender Stop im Minutentakt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30059" y="2221992"/>
            <a:ext cx="219456" cy="219456"/>
          </a:xfrm>
          <a:prstGeom prst="ellipse">
            <a:avLst/>
          </a:prstGeom>
          <a:solidFill>
            <a:srgbClr val="F5A623"/>
          </a:solidFill>
          <a:ln w="25400">
            <a:solidFill>
              <a:srgbClr val="0D10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4476" y="2542032"/>
            <a:ext cx="2672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Teilverkauf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1636" y="2834640"/>
            <a:ext cx="2398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Prozent am Kursziel, Rest läuft risikofrei weiter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02393" y="2221992"/>
            <a:ext cx="219456" cy="219456"/>
          </a:xfrm>
          <a:prstGeom prst="ellipse">
            <a:avLst/>
          </a:prstGeom>
          <a:solidFill>
            <a:srgbClr val="FF4466"/>
          </a:solidFill>
          <a:ln w="25400">
            <a:solidFill>
              <a:srgbClr val="0D10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66810" y="2542032"/>
            <a:ext cx="2672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Schließung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03970" y="2834640"/>
            <a:ext cx="23980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Fünf definierte Ausstiegsgründe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71246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FÜNF AUSSTIEGSGRÜNDE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041648"/>
            <a:ext cx="2048256" cy="1627632"/>
          </a:xfrm>
          <a:prstGeom prst="roundRect">
            <a:avLst>
              <a:gd name="adj" fmla="val 5056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42062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04672" y="45720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Trailing-Stop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" y="488289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 fällt unter den mitgezogenen Stop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816352" y="4041648"/>
            <a:ext cx="2048256" cy="1627632"/>
          </a:xfrm>
          <a:prstGeom prst="roundRect">
            <a:avLst>
              <a:gd name="adj" fmla="val 5056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054096" y="42062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054096" y="45720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Fester Stop-Loss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54096" y="488289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Ursprüngliches Verlustlimit erreicht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65776" y="4041648"/>
            <a:ext cx="2048256" cy="1627632"/>
          </a:xfrm>
          <a:prstGeom prst="roundRect">
            <a:avLst>
              <a:gd name="adj" fmla="val 5056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03520" y="42062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303520" y="45720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Kursziel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03520" y="488289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Teilverkauf, Rest mit Stop auf Einstand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0" y="4041648"/>
            <a:ext cx="2048256" cy="1627632"/>
          </a:xfrm>
          <a:prstGeom prst="roundRect">
            <a:avLst>
              <a:gd name="adj" fmla="val 5056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52944" y="42062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7552944" y="45720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48-Stunden-Regel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552944" y="488289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bewegt sich nicht — Kapital wird frei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564624" y="4041648"/>
            <a:ext cx="2048256" cy="1627632"/>
          </a:xfrm>
          <a:prstGeom prst="roundRect">
            <a:avLst>
              <a:gd name="adj" fmla="val 5056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802368" y="42062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4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9802368" y="457200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Umschichtung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802368" y="488289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Schwächste Position weicht einer besseren Idee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" y="590702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jedem Verkauf sucht das System selbsttätig nach einer neuen Verwendung für das frei gewordene Kapital.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Handelstag, vollständig getaktet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50492"/>
            <a:ext cx="118872" cy="118872"/>
          </a:xfrm>
          <a:prstGeom prst="ellipse">
            <a:avLst/>
          </a:prstGeom>
          <a:solidFill>
            <a:srgbClr val="4D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08:00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52928" y="1481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zur Eröffnung Europa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10528" y="1481328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60 Titel auf Signale prüfen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01168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180844"/>
            <a:ext cx="118872" cy="118872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52928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Morgenbericht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10528" y="2011680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Depotstand, offene Positionen, Stops, Ziele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542032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2711196"/>
            <a:ext cx="118872" cy="118872"/>
          </a:xfrm>
          <a:prstGeom prst="ellipse">
            <a:avLst/>
          </a:prstGeom>
          <a:solidFill>
            <a:srgbClr val="B06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25420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13:45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52928" y="2542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Tiefenscan vor US-Eröffnung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0528" y="2542032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Titel bewertet, Top 10 vollanalysiert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072384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241548"/>
            <a:ext cx="118872" cy="118872"/>
          </a:xfrm>
          <a:prstGeom prst="ellipse">
            <a:avLst/>
          </a:prstGeom>
          <a:solidFill>
            <a:srgbClr val="4D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30723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15:30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852928" y="30723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zur Eröffnung USA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0528" y="3072384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Reaktion auf den Handelsstart in New York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3602736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3771900"/>
            <a:ext cx="118872" cy="118872"/>
          </a:xfrm>
          <a:prstGeom prst="ellipse">
            <a:avLst/>
          </a:prstGeom>
          <a:solidFill>
            <a:srgbClr val="4D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" y="3602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17:30 / 19:30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852928" y="36027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Zwischenscans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10528" y="3602736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Empfindlichere Schwelle für Volumenausschläge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133088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" y="4302252"/>
            <a:ext cx="118872" cy="118872"/>
          </a:xfrm>
          <a:prstGeom prst="ellipse">
            <a:avLst/>
          </a:prstGeom>
          <a:solidFill>
            <a:srgbClr val="4D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0704" y="4133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9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21:00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852928" y="4133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vor Handelsschluss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10528" y="4133088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Letzte Gelegenheiten des Tages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6928" y="4663440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" y="4832604"/>
            <a:ext cx="118872" cy="1188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0704" y="4663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21:30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852928" y="4663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Tagesabschluss-Kontrolle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10528" y="4663440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Prüft, ob der Tag ohne Kauf geblieben ist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5193792"/>
            <a:ext cx="11055096" cy="457200"/>
          </a:xfrm>
          <a:prstGeom prst="roundRect">
            <a:avLst>
              <a:gd name="adj" fmla="val 18000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2960" y="5362956"/>
            <a:ext cx="118872" cy="118872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0704" y="5193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Jede Minute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2852928" y="51937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Positionsüberwachung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10528" y="5193792"/>
            <a:ext cx="474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Kurse, Stops, Ziele, 48-Stunden-Regel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66928" y="59253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Zeiten in mitteleuropäischer Zeit, Montag bis Freitag. Zusätzlich läuft am ersten Montag im Monat der Monatsbericht.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das System aufgebaut ist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7680960" cy="713232"/>
          </a:xfrm>
          <a:prstGeom prst="roundRect">
            <a:avLst>
              <a:gd name="adj" fmla="val 11538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792224"/>
            <a:ext cx="164592" cy="164592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" y="151790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Oberfläche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93008" y="160934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Dashboards, Live-Aktualisierung über WebSocket — jeder Agentenschritt erscheint in dem Moment, in dem er passiert.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377440"/>
            <a:ext cx="7680960" cy="713232"/>
          </a:xfrm>
          <a:prstGeom prst="roundRect">
            <a:avLst>
              <a:gd name="adj" fmla="val 11538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651760"/>
            <a:ext cx="164592" cy="164592"/>
          </a:xfrm>
          <a:prstGeom prst="ellipse">
            <a:avLst/>
          </a:prstGeom>
          <a:solidFill>
            <a:srgbClr val="4D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3774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Anwendungsschicht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246888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vollständig asynchron. Zeitsteuerung über APScheduler. Analyse, Verkauf und Scan auch manuell auslösbar.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236976"/>
            <a:ext cx="7680960" cy="713232"/>
          </a:xfrm>
          <a:prstGeom prst="roundRect">
            <a:avLst>
              <a:gd name="adj" fmla="val 11538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3511296"/>
            <a:ext cx="164592" cy="164592"/>
          </a:xfrm>
          <a:prstGeom prst="ellipse">
            <a:avLst/>
          </a:prstGeom>
          <a:solidFill>
            <a:srgbClr val="B06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323697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Agentenschicht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93008" y="332841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Zehn Agenten auf gemeinsamer Basis: Sprachmodell-Aufruf, Websuche, Antwortprüfung, Rückfallwerte bei Ausfall.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096512"/>
            <a:ext cx="7680960" cy="713232"/>
          </a:xfrm>
          <a:prstGeom prst="roundRect">
            <a:avLst>
              <a:gd name="adj" fmla="val 11538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4370832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3856" y="409651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Datenschicht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93008" y="418795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Kurse über Yahoo Finance, Nachrichten über Tavily oder DuckDuckGo, Stimmung über Reddit und StockTwits.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956048"/>
            <a:ext cx="7680960" cy="713232"/>
          </a:xfrm>
          <a:prstGeom prst="roundRect">
            <a:avLst>
              <a:gd name="adj" fmla="val 11538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" y="5230368"/>
            <a:ext cx="164592" cy="164592"/>
          </a:xfrm>
          <a:prstGeom prst="ellipse">
            <a:avLst/>
          </a:prstGeom>
          <a:solidFill>
            <a:srgbClr val="4D9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33856" y="49560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Speicherung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93008" y="504748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auf eigenem Datenträger — ohne persistenten Speicher schaltet das System automatisch auf eine ferne Datenbank um.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31936" y="1517904"/>
            <a:ext cx="2990088" cy="1975104"/>
          </a:xfrm>
          <a:prstGeom prst="roundRect">
            <a:avLst>
              <a:gd name="adj" fmla="val 4167"/>
            </a:avLst>
          </a:prstGeom>
          <a:solidFill>
            <a:srgbClr val="1F272F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924544" y="1755648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924544" y="2066544"/>
            <a:ext cx="2404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Docker-Container, lauffähig auf jedem gängigen Anbieter. Neustart und Aktualisierung ohne Datenverlust; die laufende Version steht im Dashboard.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631936" y="3639312"/>
            <a:ext cx="2990088" cy="2377440"/>
          </a:xfrm>
          <a:prstGeom prst="roundRect">
            <a:avLst>
              <a:gd name="adj" fmla="val 3462"/>
            </a:avLst>
          </a:prstGeom>
          <a:solidFill>
            <a:srgbClr val="1F272F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24544" y="387705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KOSTENSTRUKTUR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924544" y="4224528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Sprachmodelle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49256" y="42245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24544" y="4645152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Marktdaten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49256" y="46451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24544" y="5065776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 &amp; Social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49256" y="506577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24544" y="5486400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49256" y="54864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5 € / Monat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ROBUSTHEIT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Jede Abhängigkeit hat einen Ersatz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Kostenlose Dienste fallen aus. Das System ist so gebaut, dass ein Ausfall es verlangsamt, aber nicht anhält.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883664"/>
            <a:ext cx="3456432" cy="3657600"/>
          </a:xfrm>
          <a:prstGeom prst="roundRect">
            <a:avLst>
              <a:gd name="adj" fmla="val 2381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10312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6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Sprachmodelle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59536" y="2578608"/>
            <a:ext cx="2871216" cy="548640"/>
          </a:xfrm>
          <a:prstGeom prst="roundRect">
            <a:avLst>
              <a:gd name="adj" fmla="val 8333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57860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263347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Neun kostenlose Modelle,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nacheinander durchprobiert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31136" y="3145536"/>
            <a:ext cx="128016" cy="128016"/>
          </a:xfrm>
          <a:prstGeom prst="down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3291840"/>
            <a:ext cx="2871216" cy="548640"/>
          </a:xfrm>
          <a:prstGeom prst="roundRect">
            <a:avLst>
              <a:gd name="adj" fmla="val 8333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2918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334670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zu fünf Zugangsschlüssel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Wechsel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31136" y="3858768"/>
            <a:ext cx="128016" cy="128016"/>
          </a:xfrm>
          <a:prstGeom prst="down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4005072"/>
            <a:ext cx="2871216" cy="548640"/>
          </a:xfrm>
          <a:prstGeom prst="roundRect">
            <a:avLst>
              <a:gd name="adj" fmla="val 8333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400507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405993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als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letzte Rückfallebene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31136" y="4572000"/>
            <a:ext cx="128016" cy="128016"/>
          </a:xfrm>
          <a:prstGeom prst="down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4718304"/>
            <a:ext cx="2871216" cy="548640"/>
          </a:xfrm>
          <a:prstGeom prst="roundRect">
            <a:avLst>
              <a:gd name="adj" fmla="val 8333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71830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477316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Vordefinierte Antwort,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 läuft weiter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70832" y="1883664"/>
            <a:ext cx="3456432" cy="3657600"/>
          </a:xfrm>
          <a:prstGeom prst="roundRect">
            <a:avLst>
              <a:gd name="adj" fmla="val 2381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210312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9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Websuche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63440" y="2578608"/>
            <a:ext cx="2871216" cy="548640"/>
          </a:xfrm>
          <a:prstGeom prst="roundRect">
            <a:avLst>
              <a:gd name="adj" fmla="val 8333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57860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84064" y="263347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Tavily, sofern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Schlüssel hinterlegt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3145536"/>
            <a:ext cx="128016" cy="128016"/>
          </a:xfrm>
          <a:prstGeom prst="down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291840"/>
            <a:ext cx="2871216" cy="548640"/>
          </a:xfrm>
          <a:prstGeom prst="roundRect">
            <a:avLst>
              <a:gd name="adj" fmla="val 8333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2918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84064" y="334670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DuckDuckGo,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Schlüssel nutzbar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3858768"/>
            <a:ext cx="128016" cy="128016"/>
          </a:xfrm>
          <a:prstGeom prst="down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4005072"/>
            <a:ext cx="2871216" cy="548640"/>
          </a:xfrm>
          <a:prstGeom prst="roundRect">
            <a:avLst>
              <a:gd name="adj" fmla="val 8333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400507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84064" y="405993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Leeres Ergebnis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Abbruch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35040" y="4572000"/>
            <a:ext cx="128016" cy="128016"/>
          </a:xfrm>
          <a:prstGeom prst="down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4718304"/>
            <a:ext cx="2871216" cy="548640"/>
          </a:xfrm>
          <a:prstGeom prst="roundRect">
            <a:avLst>
              <a:gd name="adj" fmla="val 8333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471830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84064" y="477316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arbeitet mit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Kursdaten weiter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74736" y="1883664"/>
            <a:ext cx="3456432" cy="3657600"/>
          </a:xfrm>
          <a:prstGeom prst="roundRect">
            <a:avLst>
              <a:gd name="adj" fmla="val 2381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467344" y="210312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Speicherung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67344" y="2578608"/>
            <a:ext cx="2871216" cy="548640"/>
          </a:xfrm>
          <a:prstGeom prst="roundRect">
            <a:avLst>
              <a:gd name="adj" fmla="val 8333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77072" y="257860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887968" y="2633472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Datenbank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eigenem Datenträger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838944" y="3145536"/>
            <a:ext cx="128016" cy="128016"/>
          </a:xfrm>
          <a:prstGeom prst="down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67344" y="3291840"/>
            <a:ext cx="2871216" cy="548640"/>
          </a:xfrm>
          <a:prstGeom prst="roundRect">
            <a:avLst>
              <a:gd name="adj" fmla="val 8333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77072" y="32918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887968" y="334670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Ferne Datenbank,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kein Speicher da ist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838944" y="3858768"/>
            <a:ext cx="128016" cy="128016"/>
          </a:xfrm>
          <a:prstGeom prst="down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67344" y="4005072"/>
            <a:ext cx="2871216" cy="548640"/>
          </a:xfrm>
          <a:prstGeom prst="roundRect">
            <a:avLst>
              <a:gd name="adj" fmla="val 8333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77072" y="400507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887968" y="405993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Automatischer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Neuaufbau der Verbindung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838944" y="4572000"/>
            <a:ext cx="128016" cy="128016"/>
          </a:xfrm>
          <a:prstGeom prst="downArrow">
            <a:avLst/>
          </a:prstGeom>
          <a:solidFill>
            <a:srgbClr val="2C35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67344" y="4718304"/>
            <a:ext cx="2871216" cy="548640"/>
          </a:xfrm>
          <a:prstGeom prst="roundRect">
            <a:avLst>
              <a:gd name="adj" fmla="val 8333"/>
            </a:avLst>
          </a:prstGeom>
          <a:solidFill>
            <a:srgbClr val="11161B"/>
          </a:solidFill>
          <a:ln w="9525">
            <a:solidFill>
              <a:srgbClr val="2C353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77072" y="471830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887968" y="477316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Vorgang wird wiederholt,</a:t>
            </a:r>
            <a:endParaRPr lang="en-US" sz="10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Datenverlust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NACHVOLLZIEHBARKEIT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Jede Entscheidung bleibt prüfbar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91056"/>
            <a:ext cx="137160" cy="137160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517904"/>
            <a:ext cx="599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Vollständiges Analyseprotokoll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7824" y="1883664"/>
            <a:ext cx="5998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jedem geprüften Titel werden alle acht Berichte gespeichert — Makrolage, Chartbild, Fundamentaldaten, Research, Stimmung, Risiko, Komiteedebatte und Dantes Einwand.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62656"/>
            <a:ext cx="137160" cy="137160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889504"/>
            <a:ext cx="599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Signale am Trade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7824" y="3255264"/>
            <a:ext cx="5998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Kauf trägt die vollständige Begründung mit sich. Auch Jahre später ist erkennbar, welcher Agent was gesagt hat.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334256"/>
            <a:ext cx="137160" cy="137160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261104"/>
            <a:ext cx="5998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Wertentwicklung im Zeitverlauf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7824" y="4626864"/>
            <a:ext cx="5998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jeder Veränderung wird der Depotwert festgehalten — daraus entsteht die Kurve, ohne Nachbearbeitung.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42048" y="1463040"/>
            <a:ext cx="4379976" cy="1938528"/>
          </a:xfrm>
          <a:prstGeom prst="roundRect">
            <a:avLst>
              <a:gd name="adj" fmla="val 4245"/>
            </a:avLst>
          </a:prstGeom>
          <a:solidFill>
            <a:srgbClr val="1F272F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52944" y="1700784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LIVE-EINBLICK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552944" y="2011680"/>
            <a:ext cx="3758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Dashboards zeigen die Arbeit der Agenten in Echtzeit: welcher Agent gerade rechnet, welches Signal er liefert, welcher Trade ausgelöst wurde.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42048" y="3529584"/>
            <a:ext cx="4379976" cy="1280160"/>
          </a:xfrm>
          <a:prstGeom prst="roundRect">
            <a:avLst>
              <a:gd name="adj" fmla="val 6429"/>
            </a:avLst>
          </a:prstGeom>
          <a:solidFill>
            <a:srgbClr val="1F272F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52944" y="3730752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B0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MONATSBERICHT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52944" y="4005072"/>
            <a:ext cx="3758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am ersten Montag: Wertentwicklung, Trefferquote, bester und schlechtester Trade, Einordnung des CIO.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42048" y="4937760"/>
            <a:ext cx="4379976" cy="1280160"/>
          </a:xfrm>
          <a:prstGeom prst="roundRect">
            <a:avLst>
              <a:gd name="adj" fmla="val 6429"/>
            </a:avLst>
          </a:prstGeom>
          <a:solidFill>
            <a:srgbClr val="1F272F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52944" y="5138928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4D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SCHNITTSTELLE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52944" y="5413248"/>
            <a:ext cx="3758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Depot, Trades, Berichte und Kurse sind über Schnittstellen abrufbar — prüfbar auch ohne Zugriff auf das Dashboard.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PUNKTE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heute noch gegen das Konzept spricht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Punkte gehören auf den Tisch, bevor jemand die bisherige Wertentwicklung als Beleg für Modellqualität liest.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5358384" cy="1280160"/>
          </a:xfrm>
          <a:prstGeom prst="roundRect">
            <a:avLst>
              <a:gd name="adj" fmla="val 6429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221992"/>
            <a:ext cx="128016" cy="128016"/>
          </a:xfrm>
          <a:prstGeom prst="ellipse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1214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Handelszwang verzerrt die Bilanz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487168"/>
            <a:ext cx="4809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Scan erzwingt einen Kauf; bleibt ein Tag ohne Trade, kauft um 21:30 eine Notlösung ohne Sprachmodell den Spitzenreiter der Rangliste.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358384" cy="1280160"/>
          </a:xfrm>
          <a:prstGeom prst="roundRect">
            <a:avLst>
              <a:gd name="adj" fmla="val 6429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221992"/>
            <a:ext cx="128016" cy="128016"/>
          </a:xfrm>
          <a:prstGeom prst="ellipse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75704" y="21214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Vergleichsmaßstab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487168"/>
            <a:ext cx="4809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fehlt die Gegenüberstellung mit einem einfachen Indexinvestment sowie Kennzahlen wie Sharpe-Quotient oder Trefferquote je Agent.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383280"/>
            <a:ext cx="5358384" cy="1280160"/>
          </a:xfrm>
          <a:prstGeom prst="roundRect">
            <a:avLst>
              <a:gd name="adj" fmla="val 6429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685032"/>
            <a:ext cx="128016" cy="128016"/>
          </a:xfrm>
          <a:prstGeom prst="ellipse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5844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Währung und Handelskosten fehlen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3950208"/>
            <a:ext cx="4809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Depot rechnet in Euro, die Kurse notieren in US-Dollar — ohne Umrechnung. Gebühren, Spreads und Ausführungsabweichungen sind nicht berücksichtigt.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383280"/>
            <a:ext cx="5358384" cy="1280160"/>
          </a:xfrm>
          <a:prstGeom prst="roundRect">
            <a:avLst>
              <a:gd name="adj" fmla="val 6429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3685032"/>
            <a:ext cx="128016" cy="128016"/>
          </a:xfrm>
          <a:prstGeom prst="ellipse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75704" y="35844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Klumpenkontrolle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3950208"/>
            <a:ext cx="4809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Fünfzehn Positionen könnten sämtlich Halbleiterwerte sein. Ein Sektor- oder Korrelationslimit existiert nicht.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846320"/>
            <a:ext cx="11055096" cy="1280160"/>
          </a:xfrm>
          <a:prstGeom prst="roundRect">
            <a:avLst>
              <a:gd name="adj" fmla="val 6429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" y="5148072"/>
            <a:ext cx="128016" cy="128016"/>
          </a:xfrm>
          <a:prstGeom prst="ellipse">
            <a:avLst/>
          </a:prstGeom>
          <a:solidFill>
            <a:srgbClr val="FF44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047488"/>
            <a:ext cx="10268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 der Agenten ist unscharf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" y="5413248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Monatsauswertung zählt jeden Agenten bei jedem Trade mit, unabhängig davon, ob er zum Kauf geraten hat. Die Trefferquoten sind dadurch für alle gleich.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Ausbaustufen, in dieser Reihenfolge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3456432" cy="3986784"/>
          </a:xfrm>
          <a:prstGeom prst="roundRect">
            <a:avLst>
              <a:gd name="adj" fmla="val 2381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1773936"/>
            <a:ext cx="932688" cy="310896"/>
          </a:xfrm>
          <a:prstGeom prst="roundRect">
            <a:avLst>
              <a:gd name="adj" fmla="val 17647"/>
            </a:avLst>
          </a:prstGeom>
          <a:solidFill>
            <a:srgbClr val="00D084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773936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59536" y="221284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Ehrliche Messung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77824" y="2825496"/>
            <a:ext cx="91440" cy="91440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724912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Handelszwang abschalten oder getrennt verbuchen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77824" y="3520440"/>
            <a:ext cx="91440" cy="91440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419856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 gegen ein einfaches Indexinvestment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" y="4215384"/>
            <a:ext cx="91440" cy="91440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4114800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Trefferquote, Verlustserien je Agent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7824" y="4910328"/>
            <a:ext cx="91440" cy="91440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809744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Rückrechnung über historische Zeiträume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70832" y="1517904"/>
            <a:ext cx="3456432" cy="3986784"/>
          </a:xfrm>
          <a:prstGeom prst="roundRect">
            <a:avLst>
              <a:gd name="adj" fmla="val 2381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773936"/>
            <a:ext cx="932688" cy="310896"/>
          </a:xfrm>
          <a:prstGeom prst="roundRect">
            <a:avLst>
              <a:gd name="adj" fmla="val 17647"/>
            </a:avLst>
          </a:prstGeom>
          <a:solidFill>
            <a:srgbClr val="F5A623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773936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221284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Härtung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81728" y="282549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724912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Währungsumrechnung, Gebühren, Ausführungsabschlag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81728" y="352044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419856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Sektor- und Korrelationsgrenzen im Depot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81728" y="421538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4114800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Notabschaltung ab definiertem Gesamtverlust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81728" y="491032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4809744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Sperre gegen gleichzeitige Depotänderungen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74736" y="1517904"/>
            <a:ext cx="3456432" cy="3986784"/>
          </a:xfrm>
          <a:prstGeom prst="roundRect">
            <a:avLst>
              <a:gd name="adj" fmla="val 2381"/>
            </a:avLst>
          </a:prstGeom>
          <a:solidFill>
            <a:srgbClr val="191F26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67344" y="1773936"/>
            <a:ext cx="932688" cy="310896"/>
          </a:xfrm>
          <a:prstGeom prst="roundRect">
            <a:avLst>
              <a:gd name="adj" fmla="val 17647"/>
            </a:avLst>
          </a:prstGeom>
          <a:solidFill>
            <a:srgbClr val="B06A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67344" y="1773936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B06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67344" y="2212848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Qualität der Urteile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485632" y="2825496"/>
            <a:ext cx="91440" cy="91440"/>
          </a:xfrm>
          <a:prstGeom prst="ellipse">
            <a:avLst/>
          </a:prstGeom>
          <a:solidFill>
            <a:srgbClr val="B06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23376" y="2724912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Dantes Einwand mit echter Wirkung auf die Größe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485632" y="3520440"/>
            <a:ext cx="91440" cy="91440"/>
          </a:xfrm>
          <a:prstGeom prst="ellipse">
            <a:avLst/>
          </a:prstGeom>
          <a:solidFill>
            <a:srgbClr val="B06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23376" y="3419856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Grundsatz „im Zweifel abwarten“ statt „im Zweifel kaufen“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485632" y="4215384"/>
            <a:ext cx="91440" cy="91440"/>
          </a:xfrm>
          <a:prstGeom prst="ellipse">
            <a:avLst/>
          </a:prstGeom>
          <a:solidFill>
            <a:srgbClr val="B06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23376" y="4114800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Verwendetes Modell je Entscheidung protokollieren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485632" y="4910328"/>
            <a:ext cx="91440" cy="91440"/>
          </a:xfrm>
          <a:prstGeom prst="ellipse">
            <a:avLst/>
          </a:prstGeom>
          <a:solidFill>
            <a:srgbClr val="B06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23376" y="4809744"/>
            <a:ext cx="2615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Auswertung: welcher Agent liefert tatsächlich Mehrwert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66928" y="57607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Reihenfolge ist Absicht: erst ehrlich messen, dann absichern, dann die Urteilsqualität steigern.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9204"/>
            <a:ext cx="109728" cy="109728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20624"/>
            <a:ext cx="10853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EINORDNUNG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Wozu das Ganze taugt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591056"/>
            <a:ext cx="457200" cy="457200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591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7276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Prüfstand für KI-Entscheidungen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80160" y="1975104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die Rendite ist das eigentliche Produkt, sondern ein Aufbau, in dem sich messen lässt, ob mehrere streitende Modelle bessere Urteile fällen als ein einzelnes.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980944"/>
            <a:ext cx="457200" cy="457200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962656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Prozess ist übertragbar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Rollenverteilung, Debatte, Vetorecht und lückenlose Protokollierung funktionieren überall dort, wo Entscheidungen unter Unsicherheit begründet werden müssen — Kreditvergabe, Einkauf, Personalauswahl.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37083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35254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Betrieb kostet fast nichts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80160" y="47548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 fünf Euro im Monat für ein System, das durchgehend läuft. Die Skalierung scheitert nicht am Preis, sondern allein an der Qualität der Entscheidungen.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16368" y="1517904"/>
            <a:ext cx="4105656" cy="4114800"/>
          </a:xfrm>
          <a:prstGeom prst="roundRect">
            <a:avLst>
              <a:gd name="adj" fmla="val 2004"/>
            </a:avLst>
          </a:prstGeom>
          <a:solidFill>
            <a:srgbClr val="1F272F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27264" y="1700784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7863840" y="2487168"/>
            <a:ext cx="34107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Wert liegt nicht darin, dass zehn Modelle handeln — sondern darin, dass am Ende jeder Entscheidung nachlesbar bleibt, wer was gesagt hat.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863840" y="4242816"/>
            <a:ext cx="640080" cy="0"/>
          </a:xfrm>
          <a:prstGeom prst="line">
            <a:avLst/>
          </a:prstGeom>
          <a:noFill/>
          <a:ln w="12700">
            <a:solidFill>
              <a:srgbClr val="2C35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437083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Kernthese des Projekts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10323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Autonomer KI-Hedgefonds  ·  Paper Trading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81944" y="6437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2377440"/>
            <a:ext cx="4754880" cy="4754880"/>
          </a:xfrm>
          <a:prstGeom prst="ellipse">
            <a:avLst/>
          </a:prstGeom>
          <a:solidFill>
            <a:srgbClr val="00D084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1517904"/>
            <a:ext cx="128016" cy="128016"/>
          </a:xfrm>
          <a:prstGeom prst="ellipse">
            <a:avLst/>
          </a:prstGeom>
          <a:solidFill>
            <a:srgbClr val="00D0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444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NÄCHSTER SCHRITT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883664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Erst beweisen,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E8EC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dann skalieren.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401568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System läuft. Der nächste Meilenstein ist nicht mehr Funktionsumfang, sondern Beweisführung: sechs Monate saubere Wertentwicklung ohne Handelszwang, gegen einen Vergleichsindex gemessen, mit belastbaren Kennzahlen je Agent.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791456"/>
            <a:ext cx="3456432" cy="1133856"/>
          </a:xfrm>
          <a:prstGeom prst="roundRect">
            <a:avLst>
              <a:gd name="adj" fmla="val 7258"/>
            </a:avLst>
          </a:prstGeom>
          <a:solidFill>
            <a:srgbClr val="1F272F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4974336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Sechs Monate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528523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Messzeitraum ohne erzwungene Trades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0832" y="4791456"/>
            <a:ext cx="3456432" cy="1133856"/>
          </a:xfrm>
          <a:prstGeom prst="roundRect">
            <a:avLst>
              <a:gd name="adj" fmla="val 7258"/>
            </a:avLst>
          </a:prstGeom>
          <a:solidFill>
            <a:srgbClr val="1F272F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4974336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Vergleichsindex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5152" y="528523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Kurve gegen ein Indexinvestment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74736" y="4791456"/>
            <a:ext cx="3456432" cy="1133856"/>
          </a:xfrm>
          <a:prstGeom prst="roundRect">
            <a:avLst>
              <a:gd name="adj" fmla="val 7258"/>
            </a:avLst>
          </a:prstGeom>
          <a:solidFill>
            <a:srgbClr val="1F272F"/>
          </a:solidFill>
          <a:ln w="9525">
            <a:solidFill>
              <a:srgbClr val="2C353F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49056" y="4974336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0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49056" y="528523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 über echtes Kapital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Capital Management  ·  github.com/Nikros07/Apex-Capital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Capital — Investor Pitch</dc:title>
  <dc:subject>PptxGenJS Presentation</dc:subject>
  <dc:creator>Apex Capital Management</dc:creator>
  <cp:lastModifiedBy>Apex Capital Management</cp:lastModifiedBy>
  <cp:revision>1</cp:revision>
  <dcterms:created xsi:type="dcterms:W3CDTF">2026-08-04T18:21:36Z</dcterms:created>
  <dcterms:modified xsi:type="dcterms:W3CDTF">2026-08-04T18:21:36Z</dcterms:modified>
</cp:coreProperties>
</file>